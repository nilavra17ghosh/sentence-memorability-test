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uce" charset="1" panose="00000500000000000000"/>
      <p:regular r:id="rId21"/>
    </p:embeddedFont>
    <p:embeddedFont>
      <p:font typeface="Open Sauce Bold" charset="1" panose="00000800000000000000"/>
      <p:regular r:id="rId22"/>
    </p:embeddedFont>
    <p:embeddedFont>
      <p:font typeface="Open Sauce Semi-Bold" charset="1" panose="000007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9533" y="1015292"/>
            <a:ext cx="13519425" cy="27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41"/>
              </a:lnSpc>
            </a:pPr>
            <a:r>
              <a:rPr lang="en-US" sz="10741" spc="-644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Presentation </a:t>
            </a:r>
          </a:p>
          <a:p>
            <a:pPr algn="ctr">
              <a:lnSpc>
                <a:spcPts val="10741"/>
              </a:lnSpc>
            </a:pPr>
            <a:r>
              <a:rPr lang="en-US" sz="10741" spc="-644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Mid evals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5997178"/>
            <a:ext cx="7330510" cy="51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57"/>
              </a:lnSpc>
              <a:spcBef>
                <a:spcPct val="0"/>
              </a:spcBef>
            </a:pPr>
            <a:r>
              <a:rPr lang="en-US" b="true" sz="3857" spc="385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P&lt;1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334397" y="6898958"/>
            <a:ext cx="6140113" cy="1485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58"/>
              </a:lnSpc>
            </a:pPr>
            <a:r>
              <a:rPr lang="en-US" sz="2827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Arnav Deshmukh</a:t>
            </a:r>
          </a:p>
          <a:p>
            <a:pPr algn="r">
              <a:lnSpc>
                <a:spcPts val="3958"/>
              </a:lnSpc>
            </a:pPr>
            <a:r>
              <a:rPr lang="en-US" sz="2827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Nidhish Jain</a:t>
            </a:r>
          </a:p>
          <a:p>
            <a:pPr algn="r">
              <a:lnSpc>
                <a:spcPts val="3958"/>
              </a:lnSpc>
            </a:pPr>
            <a:r>
              <a:rPr lang="en-US" sz="2827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Nilavra ghosh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4772" y="2966037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8216" y="6404308"/>
            <a:ext cx="1483618" cy="1537428"/>
          </a:xfrm>
          <a:custGeom>
            <a:avLst/>
            <a:gdLst/>
            <a:ahLst/>
            <a:cxnLst/>
            <a:rect r="r" b="b" t="t" l="l"/>
            <a:pathLst>
              <a:path h="1537428" w="1483618">
                <a:moveTo>
                  <a:pt x="0" y="0"/>
                </a:moveTo>
                <a:lnTo>
                  <a:pt x="1483618" y="0"/>
                </a:lnTo>
                <a:lnTo>
                  <a:pt x="1483618" y="1537428"/>
                </a:lnTo>
                <a:lnTo>
                  <a:pt x="0" y="1537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12796" y="1284475"/>
            <a:ext cx="4567233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85591" y="2577970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85591" y="3155185"/>
            <a:ext cx="10107179" cy="110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5"/>
              </a:lnSpc>
              <a:spcBef>
                <a:spcPct val="0"/>
              </a:spcBef>
            </a:pPr>
            <a:r>
              <a:rPr lang="en-US" sz="213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</a:t>
            </a:r>
            <a:r>
              <a:rPr lang="en-US" sz="213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ow does sentence memorability depend on sentence structure (active vs passive) and the memorability of constituent words (high vs low memorability nouns)?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85591" y="491680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85591" y="5479411"/>
            <a:ext cx="11981302" cy="408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Experimentors design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ed a continuous recognition memory experiment using simple Subject–Verb–Object (S–V–O) sentences.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Sentences were systematically created using high- and low-memorability nouns, producing four sentence types: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HH (High–High) - HVH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HL (High–Low) - HVL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LH (Low–High) - LVH 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LL (Low–Low) - LVL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Each sentence was presented in active and passive voice, allowing experimentors to examine how sentence structure and word memorability influence recognition performance.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12796" y="609419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84366" y="952500"/>
            <a:ext cx="4738355" cy="68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sz="398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Literature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85020" y="2231628"/>
            <a:ext cx="13609001" cy="7265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472" indent="-295736" lvl="1">
              <a:lnSpc>
                <a:spcPts val="3835"/>
              </a:lnSpc>
              <a:buFont typeface="Arial"/>
              <a:buChar char="•"/>
            </a:pPr>
            <a:r>
              <a:rPr lang="en-US" b="true" sz="27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Noun-Level Memorability Norms</a:t>
            </a:r>
            <a:r>
              <a:rPr lang="en-US" sz="27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-Paivio et al. (1968) established that concrete, high-imagery nouns are inherently more memorable. We directly operationalise this by sampling H and L nouns from established norms to build our stimulus set</a:t>
            </a:r>
          </a:p>
          <a:p>
            <a:pPr algn="l">
              <a:lnSpc>
                <a:spcPts val="3835"/>
              </a:lnSpc>
            </a:pPr>
          </a:p>
          <a:p>
            <a:pPr algn="l" marL="591472" indent="-295736" lvl="1">
              <a:lnSpc>
                <a:spcPts val="3835"/>
              </a:lnSpc>
              <a:buFont typeface="Arial"/>
              <a:buChar char="•"/>
            </a:pPr>
            <a:r>
              <a:rPr lang="en-US" b="true" sz="27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Sentence Recognition Paradigm</a:t>
            </a:r>
            <a:r>
              <a:rPr lang="en-US" sz="27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-Perfetti &amp; Garson (1973) validated continuous recognition as a sensitive measure of sentence-level memory and showed active/passive confusion rates — directly motivating our 8-condition (4 word-types × 2 voices) design.</a:t>
            </a:r>
          </a:p>
          <a:p>
            <a:pPr algn="l">
              <a:lnSpc>
                <a:spcPts val="3835"/>
              </a:lnSpc>
            </a:pPr>
          </a:p>
          <a:p>
            <a:pPr algn="l" marL="591472" indent="-295736" lvl="1">
              <a:lnSpc>
                <a:spcPts val="3835"/>
              </a:lnSpc>
              <a:buFont typeface="Arial"/>
              <a:buChar char="•"/>
            </a:pPr>
            <a:r>
              <a:rPr lang="en-US" b="true" sz="27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Additive Noun Effects in Context- </a:t>
            </a:r>
            <a:r>
              <a:rPr lang="en-US" sz="27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Paivio &amp; Foth (1970) demonstrated that imagery advantages generalise beyond single words into multi-word units, supporting the prediction that both subject and object memorability independently influence sentence recognition</a:t>
            </a:r>
            <a:r>
              <a:rPr lang="en-US" b="true" sz="273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l">
              <a:lnSpc>
                <a:spcPts val="383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1214" y="758163"/>
            <a:ext cx="8115300" cy="63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Experimental Setting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535" y="2107725"/>
            <a:ext cx="302871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Location &amp; Environment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7069" y="2597364"/>
            <a:ext cx="16348086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Participants completed the experiment online, using their own laptops in a quiet, disturbance-free setting with a keyboard.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6964" y="3149561"/>
            <a:ext cx="299585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Participant Recruitment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1214" y="3720330"/>
            <a:ext cx="16348086" cy="30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Participants were recruited from BRSM-S26 course and were given appropriate credit for activity completion.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7012" y="4222437"/>
            <a:ext cx="134159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Procedure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1214" y="4712076"/>
            <a:ext cx="16348086" cy="187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Practice Phase: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Each participant first completed a set of practice trials to familiarize themselves with the task. Only after demonstrating satisfactory performance in the practice phase were they allowed to proceed to the main experiment.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Main Experiment: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main experiment consisted of 3 blocks (sets) of trials. In each block, participants responded to target sentences.</a:t>
            </a:r>
          </a:p>
          <a:p>
            <a:pPr algn="l" marL="777240" indent="-259080" lvl="2">
              <a:lnSpc>
                <a:spcPts val="2520"/>
              </a:lnSpc>
              <a:buFont typeface="Arial"/>
              <a:buChar char="⚬"/>
            </a:pPr>
            <a:r>
              <a:rPr lang="en-US" sz="18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Participants were allowed to take arbitrary breaks between blocks, as indicated by the "Rest Phase started" events in the logs.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467" y="6837893"/>
            <a:ext cx="277868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Material &amp; Apparatus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9839" y="7489458"/>
            <a:ext cx="13949118" cy="156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experiment was conducted using a custom-built website designed specifically for the study.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website presented sentences to participants and recorded their responses (key presses and reaction times).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total of 400 systematically generated sentences (varying in memorability and voice: active/passive) were used as stimuli.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Participants completed the experiment on their own laptops or desktops, using a keyboard for responses.</a:t>
            </a:r>
          </a:p>
          <a:p>
            <a:pPr algn="l" marL="388622" indent="-194311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All data (accuracy, reaction times, and validation checks) were automatically logged by the website for later analysis.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76250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5385" y="758163"/>
            <a:ext cx="8115300" cy="63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Variables in the Study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6308" y="2372266"/>
            <a:ext cx="4238166" cy="304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Independent</a:t>
            </a:r>
            <a:r>
              <a:rPr lang="en-US" sz="2599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 Variables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Word memorability (HH, HL, LH, LL)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Sentence structure (Active / Passive)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Sentence type (HF, LVH, HVL, LVL)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71693" y="3418476"/>
            <a:ext cx="4238166" cy="3045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Depe</a:t>
            </a:r>
            <a:r>
              <a:rPr lang="en-US" sz="2599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ndent Variables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Immediate recognition response (IR)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Verification response (WR)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Recognition accuracy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Reaction time (IR, WR)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30245" y="4464234"/>
            <a:ext cx="4238166" cy="267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599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ontrol Variables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Sentence repetition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Inter-stimulus interval (gap_time)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Validation trials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Block structure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10139" y="1609692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3496" y="2793140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00910" y="3861659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88796" y="5926091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71413" y="6783875"/>
            <a:ext cx="4238166" cy="1188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Participa</a:t>
            </a:r>
            <a:r>
              <a:rPr lang="en-US" sz="2599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nt Variable</a:t>
            </a:r>
          </a:p>
          <a:p>
            <a:pPr algn="ctr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Pa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rticipant ID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1963" y="2070123"/>
            <a:ext cx="17624074" cy="6952592"/>
          </a:xfrm>
          <a:custGeom>
            <a:avLst/>
            <a:gdLst/>
            <a:ahLst/>
            <a:cxnLst/>
            <a:rect r="r" b="b" t="t" l="l"/>
            <a:pathLst>
              <a:path h="6952592" w="17624074">
                <a:moveTo>
                  <a:pt x="0" y="0"/>
                </a:moveTo>
                <a:lnTo>
                  <a:pt x="17624074" y="0"/>
                </a:lnTo>
                <a:lnTo>
                  <a:pt x="17624074" y="6952592"/>
                </a:lnTo>
                <a:lnTo>
                  <a:pt x="0" y="6952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88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10721" y="936640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2227" y="981075"/>
            <a:ext cx="4437111" cy="44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6"/>
              </a:lnSpc>
              <a:spcBef>
                <a:spcPct val="0"/>
              </a:spcBef>
            </a:pPr>
            <a:r>
              <a:rPr lang="en-US" sz="2654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Experiment Event Structure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2563" y="-425245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254483" y="0"/>
            <a:ext cx="13033517" cy="5376326"/>
          </a:xfrm>
          <a:custGeom>
            <a:avLst/>
            <a:gdLst/>
            <a:ahLst/>
            <a:cxnLst/>
            <a:rect r="r" b="b" t="t" l="l"/>
            <a:pathLst>
              <a:path h="5376326" w="13033517">
                <a:moveTo>
                  <a:pt x="0" y="0"/>
                </a:moveTo>
                <a:lnTo>
                  <a:pt x="13033517" y="0"/>
                </a:lnTo>
                <a:lnTo>
                  <a:pt x="13033517" y="5376326"/>
                </a:lnTo>
                <a:lnTo>
                  <a:pt x="0" y="5376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25385" y="758163"/>
            <a:ext cx="8115300" cy="63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Descriptive Stats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5385" y="1711368"/>
            <a:ext cx="4103152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Dataset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5385" y="2273117"/>
            <a:ext cx="4494703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Total number of participants - 114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Total Number of rows ~ 81,329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Rows excluding practice: 76,060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5385" y="3492643"/>
            <a:ext cx="4729098" cy="253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Stim</a:t>
            </a:r>
            <a:r>
              <a:rPr lang="en-US" sz="2093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ulus prefix counts (all events)</a:t>
            </a:r>
          </a:p>
          <a:p>
            <a:pPr algn="just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HF : 29733 </a:t>
            </a:r>
          </a:p>
          <a:p>
            <a:pPr algn="just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HH : 8589 </a:t>
            </a:r>
          </a:p>
          <a:p>
            <a:pPr algn="just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HVL+HL : 7258 </a:t>
            </a:r>
          </a:p>
          <a:p>
            <a:pPr algn="just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LVH : 5130 </a:t>
            </a:r>
          </a:p>
          <a:p>
            <a:pPr algn="just">
              <a:lnSpc>
                <a:spcPts val="2930"/>
              </a:lnSpc>
              <a:spcBef>
                <a:spcPct val="0"/>
              </a:spcBef>
            </a:pPr>
            <a:r>
              <a:rPr lang="en-US" sz="209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LVL : 5077 </a:t>
            </a:r>
          </a:p>
          <a:p>
            <a:pPr algn="just">
              <a:lnSpc>
                <a:spcPts val="293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525385" y="6058008"/>
            <a:ext cx="6118543" cy="1831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97"/>
              </a:lnSpc>
              <a:spcBef>
                <a:spcPct val="0"/>
              </a:spcBef>
            </a:pPr>
            <a:r>
              <a:rPr lang="en-US" sz="2141">
                <a:solidFill>
                  <a:srgbClr val="FE0201"/>
                </a:solidFill>
                <a:latin typeface="Open Sauce"/>
                <a:ea typeface="Open Sauce"/>
                <a:cs typeface="Open Sauce"/>
                <a:sym typeface="Open Sauce"/>
              </a:rPr>
              <a:t>Exclusion Results</a:t>
            </a:r>
          </a:p>
          <a:p>
            <a:pPr algn="just">
              <a:lnSpc>
                <a:spcPts val="2997"/>
              </a:lnSpc>
              <a:spcBef>
                <a:spcPct val="0"/>
              </a:spcBef>
            </a:pPr>
            <a:r>
              <a:rPr lang="en-US" sz="214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Excluded blocks - 10/342(2.9 %)</a:t>
            </a:r>
          </a:p>
          <a:p>
            <a:pPr algn="just">
              <a:lnSpc>
                <a:spcPts val="2997"/>
              </a:lnSpc>
              <a:spcBef>
                <a:spcPct val="0"/>
              </a:spcBef>
            </a:pPr>
            <a:r>
              <a:rPr lang="en-US" sz="214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Fully excluded participants (all blocks failed): 1 Participants with ≥1 valid block: 113/114</a:t>
            </a:r>
          </a:p>
          <a:p>
            <a:pPr algn="just">
              <a:lnSpc>
                <a:spcPts val="2997"/>
              </a:lnSpc>
              <a:spcBef>
                <a:spcPct val="0"/>
              </a:spcBef>
            </a:pPr>
            <a:r>
              <a:rPr lang="en-US" sz="2141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Rows after exclusion: 73,503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31816" y="7946990"/>
            <a:ext cx="10544752" cy="1775039"/>
          </a:xfrm>
          <a:custGeom>
            <a:avLst/>
            <a:gdLst/>
            <a:ahLst/>
            <a:cxnLst/>
            <a:rect r="r" b="b" t="t" l="l"/>
            <a:pathLst>
              <a:path h="1775039" w="10544752">
                <a:moveTo>
                  <a:pt x="0" y="0"/>
                </a:moveTo>
                <a:lnTo>
                  <a:pt x="10544752" y="0"/>
                </a:lnTo>
                <a:lnTo>
                  <a:pt x="10544752" y="1775039"/>
                </a:lnTo>
                <a:lnTo>
                  <a:pt x="0" y="1775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6" r="0" b="-86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227235" y="5376326"/>
            <a:ext cx="6032065" cy="4723414"/>
          </a:xfrm>
          <a:custGeom>
            <a:avLst/>
            <a:gdLst/>
            <a:ahLst/>
            <a:cxnLst/>
            <a:rect r="r" b="b" t="t" l="l"/>
            <a:pathLst>
              <a:path h="4723414" w="6032065">
                <a:moveTo>
                  <a:pt x="0" y="0"/>
                </a:moveTo>
                <a:lnTo>
                  <a:pt x="6032065" y="0"/>
                </a:lnTo>
                <a:lnTo>
                  <a:pt x="6032065" y="4723414"/>
                </a:lnTo>
                <a:lnTo>
                  <a:pt x="0" y="4723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62189" y="1716957"/>
            <a:ext cx="7104416" cy="3621587"/>
          </a:xfrm>
          <a:custGeom>
            <a:avLst/>
            <a:gdLst/>
            <a:ahLst/>
            <a:cxnLst/>
            <a:rect r="r" b="b" t="t" l="l"/>
            <a:pathLst>
              <a:path h="3621587" w="7104416">
                <a:moveTo>
                  <a:pt x="0" y="0"/>
                </a:moveTo>
                <a:lnTo>
                  <a:pt x="7104415" y="0"/>
                </a:lnTo>
                <a:lnTo>
                  <a:pt x="7104415" y="3621587"/>
                </a:lnTo>
                <a:lnTo>
                  <a:pt x="0" y="3621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29901" y="6271105"/>
            <a:ext cx="8273683" cy="2043052"/>
          </a:xfrm>
          <a:custGeom>
            <a:avLst/>
            <a:gdLst/>
            <a:ahLst/>
            <a:cxnLst/>
            <a:rect r="r" b="b" t="t" l="l"/>
            <a:pathLst>
              <a:path h="2043052" w="8273683">
                <a:moveTo>
                  <a:pt x="0" y="0"/>
                </a:moveTo>
                <a:lnTo>
                  <a:pt x="8273683" y="0"/>
                </a:lnTo>
                <a:lnTo>
                  <a:pt x="8273683" y="2043053"/>
                </a:lnTo>
                <a:lnTo>
                  <a:pt x="0" y="2043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434" r="0" b="-21451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503584" y="1716957"/>
            <a:ext cx="8755716" cy="3154993"/>
          </a:xfrm>
          <a:custGeom>
            <a:avLst/>
            <a:gdLst/>
            <a:ahLst/>
            <a:cxnLst/>
            <a:rect r="r" b="b" t="t" l="l"/>
            <a:pathLst>
              <a:path h="3154993" w="8755716">
                <a:moveTo>
                  <a:pt x="0" y="0"/>
                </a:moveTo>
                <a:lnTo>
                  <a:pt x="8755716" y="0"/>
                </a:lnTo>
                <a:lnTo>
                  <a:pt x="8755716" y="3154993"/>
                </a:lnTo>
                <a:lnTo>
                  <a:pt x="0" y="31549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960541" y="5448441"/>
            <a:ext cx="8298759" cy="4332057"/>
          </a:xfrm>
          <a:custGeom>
            <a:avLst/>
            <a:gdLst/>
            <a:ahLst/>
            <a:cxnLst/>
            <a:rect r="r" b="b" t="t" l="l"/>
            <a:pathLst>
              <a:path h="4332057" w="8298759">
                <a:moveTo>
                  <a:pt x="0" y="0"/>
                </a:moveTo>
                <a:lnTo>
                  <a:pt x="8298759" y="0"/>
                </a:lnTo>
                <a:lnTo>
                  <a:pt x="8298759" y="4332057"/>
                </a:lnTo>
                <a:lnTo>
                  <a:pt x="0" y="43320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95976" y="805753"/>
            <a:ext cx="6636840" cy="522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5"/>
              </a:lnSpc>
            </a:pPr>
            <a:r>
              <a:rPr lang="en-US" sz="3925" spc="-235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More Stats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2189" y="5786691"/>
            <a:ext cx="1845469" cy="36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is repeat stats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30310"/>
            <a:ext cx="9675254" cy="2612319"/>
          </a:xfrm>
          <a:custGeom>
            <a:avLst/>
            <a:gdLst/>
            <a:ahLst/>
            <a:cxnLst/>
            <a:rect r="r" b="b" t="t" l="l"/>
            <a:pathLst>
              <a:path h="2612319" w="9675254">
                <a:moveTo>
                  <a:pt x="0" y="0"/>
                </a:moveTo>
                <a:lnTo>
                  <a:pt x="9675254" y="0"/>
                </a:lnTo>
                <a:lnTo>
                  <a:pt x="9675254" y="2612319"/>
                </a:lnTo>
                <a:lnTo>
                  <a:pt x="0" y="26123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11560" y="2297877"/>
            <a:ext cx="7415304" cy="2845623"/>
          </a:xfrm>
          <a:custGeom>
            <a:avLst/>
            <a:gdLst/>
            <a:ahLst/>
            <a:cxnLst/>
            <a:rect r="r" b="b" t="t" l="l"/>
            <a:pathLst>
              <a:path h="2845623" w="7415304">
                <a:moveTo>
                  <a:pt x="0" y="0"/>
                </a:moveTo>
                <a:lnTo>
                  <a:pt x="7415304" y="0"/>
                </a:lnTo>
                <a:lnTo>
                  <a:pt x="7415304" y="2845623"/>
                </a:lnTo>
                <a:lnTo>
                  <a:pt x="0" y="2845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5276" y="6419417"/>
            <a:ext cx="7964738" cy="3056468"/>
          </a:xfrm>
          <a:custGeom>
            <a:avLst/>
            <a:gdLst/>
            <a:ahLst/>
            <a:cxnLst/>
            <a:rect r="r" b="b" t="t" l="l"/>
            <a:pathLst>
              <a:path h="3056468" w="7964738">
                <a:moveTo>
                  <a:pt x="0" y="0"/>
                </a:moveTo>
                <a:lnTo>
                  <a:pt x="7964738" y="0"/>
                </a:lnTo>
                <a:lnTo>
                  <a:pt x="7964738" y="3056468"/>
                </a:lnTo>
                <a:lnTo>
                  <a:pt x="0" y="3056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3369" y="6486581"/>
            <a:ext cx="9464421" cy="2922140"/>
          </a:xfrm>
          <a:custGeom>
            <a:avLst/>
            <a:gdLst/>
            <a:ahLst/>
            <a:cxnLst/>
            <a:rect r="r" b="b" t="t" l="l"/>
            <a:pathLst>
              <a:path h="2922140" w="9464421">
                <a:moveTo>
                  <a:pt x="0" y="0"/>
                </a:moveTo>
                <a:lnTo>
                  <a:pt x="9464421" y="0"/>
                </a:lnTo>
                <a:lnTo>
                  <a:pt x="9464421" y="2922140"/>
                </a:lnTo>
                <a:lnTo>
                  <a:pt x="0" y="2922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38335" y="339226"/>
            <a:ext cx="4727809" cy="67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2"/>
              </a:lnSpc>
              <a:spcBef>
                <a:spcPct val="0"/>
              </a:spcBef>
            </a:pPr>
            <a:r>
              <a:rPr lang="en-US" sz="392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Visualizations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132304"/>
            <a:ext cx="10856981" cy="33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"/>
              </a:lnSpc>
              <a:spcBef>
                <a:spcPct val="0"/>
              </a:spcBef>
            </a:pPr>
            <a:r>
              <a:rPr lang="en-US" sz="19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</a:t>
            </a:r>
            <a:r>
              <a:rPr lang="en-US" sz="19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ultiple variables are present which can be visualized to understand the data properly.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2711" y="1688827"/>
            <a:ext cx="909650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Visualization based on the type of sentences given and the distribution of participants over valid blocks.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73939" y="1727275"/>
            <a:ext cx="7793640" cy="331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9"/>
              </a:lnSpc>
              <a:spcBef>
                <a:spcPct val="0"/>
              </a:spcBef>
            </a:pPr>
            <a:r>
              <a:rPr lang="en-US" sz="1963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Participants performance across the blocks.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39669" y="5682182"/>
            <a:ext cx="91440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Graphs showing the results of Reaction Time and how it varies with different voices.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23579" y="5956430"/>
            <a:ext cx="91440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Distribution of Repeated Question wrt categories present.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07047" y="470386"/>
            <a:ext cx="4198000" cy="614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3"/>
              </a:lnSpc>
              <a:spcBef>
                <a:spcPct val="0"/>
              </a:spcBef>
            </a:pPr>
            <a:r>
              <a:rPr lang="en-US" sz="357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Hypothesis Testing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5194" y="962025"/>
            <a:ext cx="16914106" cy="1498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5"/>
              </a:lnSpc>
            </a:pPr>
          </a:p>
          <a:p>
            <a:pPr algn="ctr">
              <a:lnSpc>
                <a:spcPts val="4955"/>
              </a:lnSpc>
            </a:pPr>
            <a:r>
              <a:rPr lang="en-US" sz="35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 are testing the following Hypothesis </a:t>
            </a:r>
          </a:p>
          <a:p>
            <a:pPr algn="just">
              <a:lnSpc>
                <a:spcPts val="4955"/>
              </a:lnSpc>
            </a:pPr>
          </a:p>
          <a:p>
            <a:pPr algn="l">
              <a:lnSpc>
                <a:spcPts val="4955"/>
              </a:lnSpc>
            </a:pPr>
            <a:r>
              <a:rPr lang="en-US" sz="35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H1</a:t>
            </a:r>
            <a:r>
              <a:rPr lang="en-US" sz="35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Sentences with higher-memorability nouns (HH) will show higher corrected memorability scores than those with lower-memorability nouns (LL) with LH and HL in between them</a:t>
            </a:r>
          </a:p>
          <a:p>
            <a:pPr algn="l">
              <a:lnSpc>
                <a:spcPts val="4955"/>
              </a:lnSpc>
            </a:pPr>
          </a:p>
          <a:p>
            <a:pPr algn="l">
              <a:lnSpc>
                <a:spcPts val="4955"/>
              </a:lnSpc>
            </a:pPr>
            <a:r>
              <a:rPr lang="en-US" sz="35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H01:</a:t>
            </a:r>
            <a:r>
              <a:rPr lang="en-US" sz="35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Null Hypothesis - There is correlation in memorability score based on availability of high memorability nouns in the sentences.</a:t>
            </a:r>
          </a:p>
          <a:p>
            <a:pPr algn="l">
              <a:lnSpc>
                <a:spcPts val="4955"/>
              </a:lnSpc>
            </a:pPr>
          </a:p>
          <a:p>
            <a:pPr algn="l">
              <a:lnSpc>
                <a:spcPts val="4955"/>
              </a:lnSpc>
            </a:pPr>
            <a:r>
              <a:rPr lang="en-US" sz="35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H2: Sentence voice (Active vs Passive) may modulate recognition memory performance</a:t>
            </a:r>
          </a:p>
          <a:p>
            <a:pPr algn="l">
              <a:lnSpc>
                <a:spcPts val="4955"/>
              </a:lnSpc>
            </a:pPr>
          </a:p>
          <a:p>
            <a:pPr algn="l">
              <a:lnSpc>
                <a:spcPts val="4955"/>
              </a:lnSpc>
            </a:pPr>
            <a:r>
              <a:rPr lang="en-US" sz="353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H02: Null Hypothesis :Sentence voice (Active vs Passive) does not  modulate recognition memory performance</a:t>
            </a:r>
          </a:p>
          <a:p>
            <a:pPr algn="l">
              <a:lnSpc>
                <a:spcPts val="4955"/>
              </a:lnSpc>
            </a:pPr>
          </a:p>
          <a:p>
            <a:pPr algn="l">
              <a:lnSpc>
                <a:spcPts val="4955"/>
              </a:lnSpc>
            </a:pPr>
          </a:p>
          <a:p>
            <a:pPr algn="l">
              <a:lnSpc>
                <a:spcPts val="4955"/>
              </a:lnSpc>
            </a:pPr>
          </a:p>
          <a:p>
            <a:pPr algn="l">
              <a:lnSpc>
                <a:spcPts val="4955"/>
              </a:lnSpc>
            </a:pPr>
          </a:p>
          <a:p>
            <a:pPr algn="just">
              <a:lnSpc>
                <a:spcPts val="4955"/>
              </a:lnSpc>
            </a:pPr>
          </a:p>
          <a:p>
            <a:pPr algn="just">
              <a:lnSpc>
                <a:spcPts val="4955"/>
              </a:lnSpc>
            </a:pPr>
          </a:p>
          <a:p>
            <a:pPr algn="just">
              <a:lnSpc>
                <a:spcPts val="4955"/>
              </a:lnSpc>
            </a:pPr>
          </a:p>
          <a:p>
            <a:pPr algn="just">
              <a:lnSpc>
                <a:spcPts val="4955"/>
              </a:lnSpc>
            </a:pPr>
          </a:p>
          <a:p>
            <a:pPr algn="l">
              <a:lnSpc>
                <a:spcPts val="49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5750" y="179597"/>
            <a:ext cx="17842250" cy="546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1. The Data &amp; Distributions</a:t>
            </a:r>
          </a:p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Metric: Each participant produces a corrected memorability score (Hit Rate – False Alarm Rate) per condition.</a:t>
            </a:r>
          </a:p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Volume: 113 participants * 4 conditions (Each condition's spread of 113 scores forms our "distribution").</a:t>
            </a:r>
          </a:p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Goal: Test for normality (bell-shaped curve) to determine the appropriate statistical tests.</a:t>
            </a:r>
          </a:p>
          <a:p>
            <a:pPr algn="l">
              <a:lnSpc>
                <a:spcPts val="3605"/>
              </a:lnSpc>
              <a:spcBef>
                <a:spcPct val="0"/>
              </a:spcBef>
            </a:pPr>
          </a:p>
          <a:p>
            <a:pPr algn="l">
              <a:lnSpc>
                <a:spcPts val="3605"/>
              </a:lnSpc>
              <a:spcBef>
                <a:spcPct val="0"/>
              </a:spcBef>
            </a:pPr>
          </a:p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2. Normality Check (Shapiro-Wilk)</a:t>
            </a:r>
          </a:p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Result: All four conditions are significantly non-normal (all p &lt; .001).</a:t>
            </a:r>
          </a:p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Shape: Distributions are left-skewed (a ceiling effect where most participants score high, leaving a long tail of lower scores).</a:t>
            </a:r>
          </a:p>
          <a:p>
            <a:pPr algn="l">
              <a:lnSpc>
                <a:spcPts val="3605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Conclusion: All analyses use non-parametric tests (Kruskal-Wallis, Dunn's post-hoc with Bonferroni correction, and Mann-Whitney U).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87805" y="5945759"/>
            <a:ext cx="16158141" cy="3696175"/>
          </a:xfrm>
          <a:custGeom>
            <a:avLst/>
            <a:gdLst/>
            <a:ahLst/>
            <a:cxnLst/>
            <a:rect r="r" b="b" t="t" l="l"/>
            <a:pathLst>
              <a:path h="3696175" w="16158141">
                <a:moveTo>
                  <a:pt x="0" y="0"/>
                </a:moveTo>
                <a:lnTo>
                  <a:pt x="16158141" y="0"/>
                </a:lnTo>
                <a:lnTo>
                  <a:pt x="16158141" y="3696175"/>
                </a:lnTo>
                <a:lnTo>
                  <a:pt x="0" y="3696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52601" y="2130260"/>
            <a:ext cx="6929760" cy="1009377"/>
          </a:xfrm>
          <a:custGeom>
            <a:avLst/>
            <a:gdLst/>
            <a:ahLst/>
            <a:cxnLst/>
            <a:rect r="r" b="b" t="t" l="l"/>
            <a:pathLst>
              <a:path h="1009377" w="6929760">
                <a:moveTo>
                  <a:pt x="0" y="0"/>
                </a:moveTo>
                <a:lnTo>
                  <a:pt x="6929760" y="0"/>
                </a:lnTo>
                <a:lnTo>
                  <a:pt x="6929760" y="1009377"/>
                </a:lnTo>
                <a:lnTo>
                  <a:pt x="0" y="1009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9138" y="1899804"/>
            <a:ext cx="11027285" cy="2941636"/>
          </a:xfrm>
          <a:custGeom>
            <a:avLst/>
            <a:gdLst/>
            <a:ahLst/>
            <a:cxnLst/>
            <a:rect r="r" b="b" t="t" l="l"/>
            <a:pathLst>
              <a:path h="2941636" w="11027285">
                <a:moveTo>
                  <a:pt x="0" y="0"/>
                </a:moveTo>
                <a:lnTo>
                  <a:pt x="11027285" y="0"/>
                </a:lnTo>
                <a:lnTo>
                  <a:pt x="11027285" y="2941636"/>
                </a:lnTo>
                <a:lnTo>
                  <a:pt x="0" y="2941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40355" y="2790106"/>
            <a:ext cx="5893506" cy="1161033"/>
          </a:xfrm>
          <a:custGeom>
            <a:avLst/>
            <a:gdLst/>
            <a:ahLst/>
            <a:cxnLst/>
            <a:rect r="r" b="b" t="t" l="l"/>
            <a:pathLst>
              <a:path h="1161033" w="5893506">
                <a:moveTo>
                  <a:pt x="0" y="0"/>
                </a:moveTo>
                <a:lnTo>
                  <a:pt x="5893506" y="0"/>
                </a:lnTo>
                <a:lnTo>
                  <a:pt x="5893506" y="1161033"/>
                </a:lnTo>
                <a:lnTo>
                  <a:pt x="0" y="1161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6167" y="720367"/>
            <a:ext cx="10197103" cy="718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1"/>
              </a:lnSpc>
              <a:spcBef>
                <a:spcPct val="0"/>
              </a:spcBef>
            </a:pPr>
            <a:r>
              <a:rPr lang="en-US" b="true" sz="5421" spc="54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H1</a:t>
            </a:r>
            <a:r>
              <a:rPr lang="en-US" sz="5421" spc="542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HYPOTHESIS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19131" y="6034280"/>
            <a:ext cx="15314730" cy="162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546" indent="-343273" lvl="1">
              <a:lnSpc>
                <a:spcPts val="3179"/>
              </a:lnSpc>
              <a:buFont typeface="Arial"/>
              <a:buChar char="•"/>
            </a:pPr>
            <a:r>
              <a:rPr lang="en-US" b="true" sz="3179" spc="3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KRUSKAL-WALLIS:</a:t>
            </a:r>
            <a:r>
              <a:rPr lang="en-US" sz="3179" spc="3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H(3) = 10.00, P = .019, ΗH2ΗH2​ = 0.016 </a:t>
            </a:r>
          </a:p>
          <a:p>
            <a:pPr algn="l">
              <a:lnSpc>
                <a:spcPts val="3179"/>
              </a:lnSpc>
            </a:pPr>
          </a:p>
          <a:p>
            <a:pPr algn="l" marL="686546" indent="-343273" lvl="1">
              <a:lnSpc>
                <a:spcPts val="3179"/>
              </a:lnSpc>
              <a:buFont typeface="Arial"/>
              <a:buChar char="•"/>
            </a:pPr>
            <a:r>
              <a:rPr lang="en-US" b="true" sz="3179" spc="3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 &lt;0.05 - </a:t>
            </a:r>
            <a:r>
              <a:rPr lang="en-US" sz="3179" spc="317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SUGGESTS H1 IS RELEVANT (REJECT NULL HYPOTHESIS)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81688" y="414636"/>
            <a:ext cx="3974425" cy="63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3"/>
              </a:lnSpc>
              <a:spcBef>
                <a:spcPct val="0"/>
              </a:spcBef>
            </a:pPr>
            <a:r>
              <a:rPr lang="en-US" b="true" sz="367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H2 HYPOTHESIS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4781" y="1917570"/>
            <a:ext cx="17453219" cy="9164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7401" indent="-328700" lvl="1">
              <a:lnSpc>
                <a:spcPts val="3044"/>
              </a:lnSpc>
              <a:buFont typeface="Arial"/>
              <a:buChar char="•"/>
            </a:pPr>
            <a:r>
              <a:rPr lang="en-US" b="true" sz="3044" spc="30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Active</a:t>
            </a: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M = 0.702; Passive: M = 0.713</a:t>
            </a:r>
          </a:p>
          <a:p>
            <a:pPr algn="l">
              <a:lnSpc>
                <a:spcPts val="3044"/>
              </a:lnSpc>
            </a:pPr>
          </a:p>
          <a:p>
            <a:pPr algn="l" marL="657401" indent="-328700" lvl="1">
              <a:lnSpc>
                <a:spcPts val="3044"/>
              </a:lnSpc>
              <a:buFont typeface="Arial"/>
              <a:buChar char="•"/>
            </a:pPr>
            <a:r>
              <a:rPr lang="en-US" b="true" sz="3044" spc="30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Mann-Whitney U:</a:t>
            </a: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U = 6055.50, p = .504, r = 0.052 </a:t>
            </a:r>
          </a:p>
          <a:p>
            <a:pPr algn="l">
              <a:lnSpc>
                <a:spcPts val="3044"/>
              </a:lnSpc>
            </a:pPr>
          </a:p>
          <a:p>
            <a:pPr algn="l" marL="657401" indent="-328700" lvl="1">
              <a:lnSpc>
                <a:spcPts val="3044"/>
              </a:lnSpc>
              <a:buFont typeface="Arial"/>
              <a:buChar char="•"/>
            </a:pPr>
            <a:r>
              <a:rPr lang="en-US" b="true" sz="3044" spc="30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 Supported</a:t>
            </a: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— voice has no meaningful effect on</a:t>
            </a:r>
          </a:p>
          <a:p>
            <a:pPr algn="l">
              <a:lnSpc>
                <a:spcPts val="3044"/>
              </a:lnSpc>
            </a:pP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 memorability</a:t>
            </a:r>
          </a:p>
          <a:p>
            <a:pPr algn="l">
              <a:lnSpc>
                <a:spcPts val="3044"/>
              </a:lnSpc>
            </a:pPr>
          </a:p>
          <a:p>
            <a:pPr algn="l">
              <a:lnSpc>
                <a:spcPts val="3044"/>
              </a:lnSpc>
            </a:pP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b="true" sz="3044" spc="304">
                <a:solidFill>
                  <a:srgbClr val="00000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Mann-Whitney U</a:t>
            </a: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tests whether Active vs. Passive voice sentences differ in            memorability by comparing the ranks of their corrected scores — result: U = 6055.50, p = .504 → no significant difference</a:t>
            </a:r>
          </a:p>
          <a:p>
            <a:pPr algn="l">
              <a:lnSpc>
                <a:spcPts val="3044"/>
              </a:lnSpc>
            </a:pPr>
          </a:p>
          <a:p>
            <a:pPr algn="l">
              <a:lnSpc>
                <a:spcPts val="3044"/>
              </a:lnSpc>
            </a:pP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 </a:t>
            </a:r>
            <a:r>
              <a:rPr lang="en-US" b="true" sz="3044" spc="30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Condition × Voice interaction (exploratory</a:t>
            </a: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  <a:p>
            <a:pPr algn="l">
              <a:lnSpc>
                <a:spcPts val="3044"/>
              </a:lnSpc>
            </a:pPr>
          </a:p>
          <a:p>
            <a:pPr algn="l" marL="657401" indent="-328700" lvl="1">
              <a:lnSpc>
                <a:spcPts val="3044"/>
              </a:lnSpc>
              <a:buFont typeface="Arial"/>
              <a:buChar char="•"/>
            </a:pP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Kruskal-Wallis (8 groups): H(7) = 14.03, p = .051 </a:t>
            </a:r>
          </a:p>
          <a:p>
            <a:pPr algn="l">
              <a:lnSpc>
                <a:spcPts val="3044"/>
              </a:lnSpc>
            </a:pPr>
          </a:p>
          <a:p>
            <a:pPr algn="l" marL="657401" indent="-328700" lvl="1">
              <a:lnSpc>
                <a:spcPts val="3044"/>
              </a:lnSpc>
              <a:buFont typeface="Arial"/>
              <a:buChar char="•"/>
            </a:pP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No evidence that voice differentially affects any noun-memorability condition</a:t>
            </a:r>
          </a:p>
          <a:p>
            <a:pPr algn="l">
              <a:lnSpc>
                <a:spcPts val="3044"/>
              </a:lnSpc>
            </a:pPr>
          </a:p>
          <a:p>
            <a:pPr algn="l" marL="657401" indent="-328700" lvl="1">
              <a:lnSpc>
                <a:spcPts val="3044"/>
              </a:lnSpc>
              <a:buFont typeface="Arial"/>
              <a:buChar char="•"/>
            </a:pPr>
            <a:r>
              <a:rPr lang="en-US" b="true" sz="3044" spc="30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Verdict</a:t>
            </a:r>
            <a:r>
              <a:rPr lang="en-US" sz="3044" spc="30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- Accept null hypothesis</a:t>
            </a:r>
          </a:p>
          <a:p>
            <a:pPr algn="l">
              <a:lnSpc>
                <a:spcPts val="3044"/>
              </a:lnSpc>
            </a:pPr>
          </a:p>
          <a:p>
            <a:pPr algn="l">
              <a:lnSpc>
                <a:spcPts val="3044"/>
              </a:lnSpc>
            </a:pPr>
          </a:p>
          <a:p>
            <a:pPr algn="l">
              <a:lnSpc>
                <a:spcPts val="3044"/>
              </a:lnSpc>
            </a:pPr>
          </a:p>
          <a:p>
            <a:pPr algn="l">
              <a:lnSpc>
                <a:spcPts val="3044"/>
              </a:lnSpc>
            </a:pPr>
          </a:p>
          <a:p>
            <a:pPr algn="l">
              <a:lnSpc>
                <a:spcPts val="3044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85850"/>
            <a:ext cx="4369204" cy="40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  <a:spcBef>
                <a:spcPct val="0"/>
              </a:spcBef>
            </a:pPr>
            <a:r>
              <a:rPr lang="en-US" sz="3009" spc="3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Further 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3030" y="1864158"/>
            <a:ext cx="17914970" cy="418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3510" indent="-221755" lvl="1">
              <a:lnSpc>
                <a:spcPts val="2054"/>
              </a:lnSpc>
              <a:buAutoNum type="arabi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Extend beyond H1 &amp; H2: 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H3: Sentence voice (Active vs Passive) affects memorability.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New hypotheses: Explore effects of reaction time, block order, and participant-level factors.</a:t>
            </a:r>
          </a:p>
          <a:p>
            <a:pPr algn="l" marL="443510" indent="-221755" lvl="1">
              <a:lnSpc>
                <a:spcPts val="2054"/>
              </a:lnSpc>
              <a:buAutoNum type="arabi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Apply more statistical analysis - Here dataset is mostly non parametric so we can apply non parametric tests.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 non-parametric tests (Kruskal-Wallis, Mann-Whitney U, Dunn’s post-hoc) due to non-normal data.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Analyze reaction time differences across conditions and voices.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Investigate interaction effects (e.g., condition × voice).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More information about ranking could be found by doing pairwise bonferroni correction.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Perform block-level analysis for learning or fatigue effects.</a:t>
            </a:r>
          </a:p>
          <a:p>
            <a:pPr algn="l" marL="443510" indent="-221755" lvl="1">
              <a:lnSpc>
                <a:spcPts val="2054"/>
              </a:lnSpc>
              <a:buAutoNum type="arabi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Data Quality and Assumption Checks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Identify and handle outliers.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Check normality and variance assumptions.</a:t>
            </a:r>
          </a:p>
          <a:p>
            <a:pPr algn="l" marL="887019" indent="-295673" lvl="2">
              <a:lnSpc>
                <a:spcPts val="2054"/>
              </a:lnSpc>
              <a:buAutoNum type="alphaL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Compare results with parametric tests (ANOVA) if assumptions are met (eg in case of RT have to be checked).</a:t>
            </a:r>
          </a:p>
          <a:p>
            <a:pPr algn="l" marL="443510" indent="-221755" lvl="1">
              <a:lnSpc>
                <a:spcPts val="2054"/>
              </a:lnSpc>
              <a:buAutoNum type="arabi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Apply different corrections techniques.</a:t>
            </a:r>
          </a:p>
          <a:p>
            <a:pPr algn="l" marL="443510" indent="-221755" lvl="1">
              <a:lnSpc>
                <a:spcPts val="2054"/>
              </a:lnSpc>
              <a:spcBef>
                <a:spcPct val="0"/>
              </a:spcBef>
              <a:buAutoNum type="arabicPeriod" startAt="1"/>
            </a:pPr>
            <a:r>
              <a:rPr lang="en-US" sz="2054" spc="205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Look forward to more research papers and see if some new parameters related to memorablity has been used and try to apply if time permits.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57275"/>
            <a:ext cx="456068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TEAM P&lt;1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DAHC_64Uqhc</dc:identifier>
  <dcterms:modified xsi:type="dcterms:W3CDTF">2011-08-01T06:04:30Z</dcterms:modified>
  <cp:revision>1</cp:revision>
  <dc:title>Project Presentation</dc:title>
</cp:coreProperties>
</file>